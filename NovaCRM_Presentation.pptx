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7.png"/><Relationship Id="rId6" Type="http://schemas.openxmlformats.org/officeDocument/2006/relationships/image" Target="../media/image10.png"/><Relationship Id="rId7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1463040"/>
            <a:ext cx="2011680" cy="41148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 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BFDBFE"/>
                </a:solidFill>
                <a:latin typeface="Calibri"/>
              </a:rPr>
              <a:t>Business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Platform.</a:t>
            </a:r>
          </a:p>
          <a:p>
            <a:pPr algn="l">
              <a:spcBef>
                <a:spcPts val="20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Complete Business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Confidential  ·  Enterprise Sales Deck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About 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unified operating system for modern enterprises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NovaCRM brings HRMS, Projects, CRM, Finance readiness, Inventory, Helpdesk, and Automation into one secure workspace — replacing fragmented tools with a single source of truth for people, customers, and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Helpdesk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19" y="35661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743200"/>
            <a:ext cx="1417320" cy="21945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3566160"/>
            <a:ext cx="1417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Business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What fragmented operations cost every growing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dis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78308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8346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Disconnected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m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80560" y="28346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Manual 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ex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78308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28346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Excel Sheets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ol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4251959"/>
            <a:ext cx="91440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53035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Poor Collaboration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93192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visi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251959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80560" y="53035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No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de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4251959"/>
            <a:ext cx="914400" cy="914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0" y="530352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Delayed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Outcomes that matter to leadership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783080"/>
            <a:ext cx="640080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5603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Centralized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workspace for people, projects, and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pr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83080"/>
            <a:ext cx="640080" cy="640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63440" y="25603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Higher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Less switching, faster execution, clearer ownership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783080"/>
            <a:ext cx="640080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20" y="25603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Real-Time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7180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Live KPIs for attendance, delivery, and sales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secur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" y="4251960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59" y="50292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Enterprise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4406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RBAC, audit logs, encryption-ready controls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3192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mo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251960"/>
            <a:ext cx="640080" cy="6400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3440" y="50292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Modular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4406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Adopt modules as your organization scales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931920"/>
            <a:ext cx="3611880" cy="2194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4251960"/>
            <a:ext cx="640080" cy="640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03920" y="50292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✓  Cloud 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44068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Accessible anywhere with modern web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Everything connected. One enterprise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83464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NovaCRM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HRMS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Payroll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Recruitment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Inventory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5029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Finance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0896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Helpdesk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310896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2860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2860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Calibri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Shared data model · Unified permissions · Cross-module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Command center for the entire organization</a:t>
            </a:r>
          </a:p>
        </p:txBody>
      </p:sp>
      <p:pic>
        <p:nvPicPr>
          <p:cNvPr id="6" name="Picture 5" descr="rounded-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KPI cards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Revenue &amp; pipeline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Employees &amp; attendance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Projects &amp; tasks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Quick actions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Notifications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HRMS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Workforce health at a glance</a:t>
            </a:r>
          </a:p>
        </p:txBody>
      </p:sp>
      <p:pic>
        <p:nvPicPr>
          <p:cNvPr id="6" name="Picture 5" descr="rounded-02-hrm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Employee count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Attendance summary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Leave requests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Department distribution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Upcoming birthdays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Expiring documents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Employee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Complete employee lifecycle records</a:t>
            </a:r>
          </a:p>
        </p:txBody>
      </p:sp>
      <p:pic>
        <p:nvPicPr>
          <p:cNvPr id="6" name="Picture 5" descr="rounded-03b-employee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Employee profile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Documents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Assets assigned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Reporting structure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Departments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Timeline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Attendance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Shifts, daily records, and monthly visibility</a:t>
            </a:r>
          </a:p>
        </p:txBody>
      </p:sp>
      <p:pic>
        <p:nvPicPr>
          <p:cNvPr id="6" name="Picture 5" descr="rounded-05-attendanc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Daily attendance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Monthly summary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Shift management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Corrections workflow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Present / late / leave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Manager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Recruitment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From requisition to offer in one pipeline</a:t>
            </a:r>
          </a:p>
        </p:txBody>
      </p:sp>
      <p:pic>
        <p:nvPicPr>
          <p:cNvPr id="6" name="Picture 5" descr="rounded-08-job-open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Job openings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Candidates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Interview rounds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Offer management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Hiring analytics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Career portal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Task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Kanban, timeline, and collaborative execution</a:t>
            </a:r>
          </a:p>
        </p:txBody>
      </p:sp>
      <p:pic>
        <p:nvPicPr>
          <p:cNvPr id="6" name="Picture 5" descr="rounded-12-tasks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Kanban board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Priorities &amp; owners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Task details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Timeline view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Attachments &amp; watchers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Delivery control with milestones and health</a:t>
            </a:r>
          </a:p>
        </p:txBody>
      </p:sp>
      <p:pic>
        <p:nvPicPr>
          <p:cNvPr id="6" name="Picture 5" descr="rounded-14b-projec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Project portfolio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Milestones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Members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Budget tracking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Progress %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Timeline &amp; Gantt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Resource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Capacity, allocation, and utilization</a:t>
            </a:r>
          </a:p>
        </p:txBody>
      </p:sp>
      <p:pic>
        <p:nvPicPr>
          <p:cNvPr id="6" name="Picture 5" descr="rounded-15-resources-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Team capacity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Utilization bars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Allocations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Workload views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Planner timeline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Forecasting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Executive reporting across CRM and operations</a:t>
            </a:r>
          </a:p>
        </p:txBody>
      </p:sp>
      <p:pic>
        <p:nvPicPr>
          <p:cNvPr id="6" name="Picture 5" descr="rounded-17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Revenue trends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Pipeline value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Win rate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Lead conversion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Outstanding invoices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Finance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CRM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Optional sales suite — fully integrated</a:t>
            </a:r>
          </a:p>
        </p:txBody>
      </p:sp>
      <p:pic>
        <p:nvPicPr>
          <p:cNvPr id="6" name="Picture 5" descr="rounded-19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863840" cy="5029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49640" y="1417320"/>
            <a:ext cx="3200400" cy="4846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8346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•  Lead list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Sales pipeline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Customers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Quotations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Invoices &amp; payments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334155"/>
                </a:solidFill>
                <a:latin typeface="Calibri"/>
              </a:rPr>
              <a:t>•  Available as optional module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Enterprise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Designed for controlled access and auditability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920240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Role 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920240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Audit Logs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920240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Encryption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429768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59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Backups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4297680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1772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Granular Permissions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de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4297680"/>
            <a:ext cx="822960" cy="8229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Activity Logs</a:t>
            </a:r>
          </a:p>
        </p:txBody>
      </p:sp>
      <p:pic>
        <p:nvPicPr>
          <p:cNvPr id="24" name="Picture 23" descr="rounded-22-audit-l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5029200"/>
            <a:ext cx="33832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Industry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Configurable for sector-specific operating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965960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Healthcare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65960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6616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Construction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59" y="1965960"/>
            <a:ext cx="777240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Education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645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1965960"/>
            <a:ext cx="777240" cy="777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0" y="2880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IT / Software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251959"/>
            <a:ext cx="777240" cy="777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Retail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251959"/>
            <a:ext cx="777240" cy="777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6616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Manufacturing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59" y="4251959"/>
            <a:ext cx="777240" cy="777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4652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Consulting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3931920"/>
            <a:ext cx="2697480" cy="1920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19" y="4251959"/>
            <a:ext cx="777240" cy="7772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26880" y="5166360"/>
            <a:ext cx="2423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Real Estate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Implementation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structured path from discovery to adoption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3160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Customization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6440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9719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Training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66959" y="3017520"/>
            <a:ext cx="77724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881360" y="2743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2852928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356616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Dedicated onboarding, data migration support, role-based training, and ongoing success management ensure NovaCRM becomes operational quickly without disrupting day-to-day business.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Continuously expanding the platform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Calibri"/>
              </a:rP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Calibri"/>
              </a:rPr>
              <a:t>Upcoming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HRMS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Projects &amp;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CRM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Resource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Recruitment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● 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971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Finance Deepening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Procurement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77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Helpdesk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AI Assistants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83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○  Advanced Analytics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Why Choose NovaCRM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Traditional stacks vs a unified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64748B"/>
                </a:solidFill>
                <a:latin typeface="Calibri"/>
              </a:rPr>
              <a:t>Traditional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NovaCRM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Multiple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Single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Multiple Logins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Unified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Higher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Integrated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Data Duplication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891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Scalable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43F5E"/>
                </a:solidFill>
                <a:latin typeface="Calibri"/>
              </a:rPr>
              <a:t>✕  Fragmented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0B981"/>
                </a:solidFill>
                <a:latin typeface="Calibri"/>
              </a:rPr>
              <a:t>✓  Modern 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Mobile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Responsive web experience across phone, tablet, and laptop</a:t>
            </a:r>
          </a:p>
        </p:txBody>
      </p:sp>
      <p:pic>
        <p:nvPicPr>
          <p:cNvPr id="6" name="Picture 5" descr="de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Client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Measurable impact for operators and executives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874519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59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Lower Costs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pr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874519"/>
            <a:ext cx="868680" cy="868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Higher Productivity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cen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1874519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0" y="2926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Centralized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au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4251959"/>
            <a:ext cx="868680" cy="868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59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4251959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1772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Better Reporting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931920"/>
            <a:ext cx="3566160" cy="2103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con-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4251959"/>
            <a:ext cx="868680" cy="8686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12480" y="53035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Scalability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BFDBFE"/>
                </a:solidFill>
                <a:latin typeface="Calibri"/>
              </a:rPr>
              <a:t>NovaCRM — One Platform. Complete Business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www.novacrm.com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hello@novacrm.com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+91 98765 43210</a:t>
            </a:r>
          </a:p>
          <a:p>
            <a:pPr algn="l">
              <a:spcBef>
                <a:spcPts val="1400"/>
              </a:spcBef>
            </a:pPr>
            <a:r>
              <a:rPr sz="1400" b="0">
                <a:solidFill>
                  <a:srgbClr val="93C5FD"/>
                </a:solidFill>
                <a:latin typeface="Calibri"/>
              </a:rPr>
              <a:t>Schedule a live enterprise demo</a:t>
            </a:r>
          </a:p>
        </p:txBody>
      </p:sp>
      <p:pic>
        <p:nvPicPr>
          <p:cNvPr id="6" name="Picture 5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02336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